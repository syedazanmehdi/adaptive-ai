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Calibri"/>
              </a:rPr>
              <a:t>UNIVERSITY OF MIANWALI · PROJECT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Adaptive AI Learning Platform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A live AI tutor for computer science that diagnoses each learner, rewrites lessons to their level, predicts what they will forget, and turns skill into scholarships, jobs, and first clients.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4B4B4"/>
                </a:solidFill>
                <a:latin typeface="Calibri"/>
              </a:rPr>
              <a:t>Created by Syed Azan Mehdi Shah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B4B4"/>
                </a:solidFill>
                <a:latin typeface="Calibri"/>
              </a:rPr>
              <a:t>Supervisor: Mr. Asif Raza — Lecturer, University of Mianwali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338328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17+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6C6C6"/>
                </a:solidFill>
                <a:latin typeface="Calibri"/>
              </a:rPr>
              <a:t>student features shipped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5440680"/>
            <a:ext cx="338328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113/113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6C6C6"/>
                </a:solidFill>
                <a:latin typeface="Calibri"/>
              </a:rPr>
              <a:t>automated tests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5440680"/>
            <a:ext cx="338328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 ×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6C6C6"/>
                </a:solidFill>
                <a:latin typeface="Calibri"/>
              </a:rPr>
              <a:t>AI key × model fallback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02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8229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92807"/>
            <a:ext cx="99669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Why static online CS education fails the people who need it most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51176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8229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24327"/>
            <a:ext cx="99669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A closed adaptive loop: diagnose, adapt, mentor, remember, convert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82696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59"/>
            <a:ext cx="8229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55847"/>
            <a:ext cx="99669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Signature Innovations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Memory Twin, Struggle DNA, Career Autopilot, Design Dojo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14215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69079"/>
            <a:ext cx="8229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87367"/>
            <a:ext cx="99669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Opportunity Layer &amp; Career Readiness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Passport, Scholarships, Freelance, Compass, PathFinder, Interview Rehearsal,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45736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00599"/>
            <a:ext cx="8229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18887"/>
            <a:ext cx="99669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Technology &amp; Reliability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MERN + TypeScript monorepo, structured AI,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77255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32119"/>
            <a:ext cx="8229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550407"/>
            <a:ext cx="99669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414"/>
                </a:solidFill>
                <a:latin typeface="Calibri"/>
              </a:rPr>
              <a:t>Feasibility &amp; 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6A"/>
                </a:solidFill>
                <a:latin typeface="Calibri"/>
              </a:rPr>
              <a:t>What is actually built, verified, and deployment-ready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208775"/>
            <a:ext cx="10908792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5486400" cy="2926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Static courses fail the people who need them most.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03 / 19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Three failures baked into static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04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021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1414"/>
                </a:solidFill>
                <a:latin typeface="Calibri"/>
              </a:rPr>
              <a:t>One-size-fits-all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Every learner gets identical content regardless of level or style, so most disengage and quietly drop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5021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1414"/>
                </a:solidFill>
                <a:latin typeface="Calibri"/>
              </a:rPr>
              <a:t>No memory of forgetting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Platforms log what you completed, not what you retained. Skills decay silently and nobody intervenes in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828800"/>
            <a:ext cx="35021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1414"/>
                </a:solidFill>
                <a:latin typeface="Calibri"/>
              </a:rPr>
              <a:t>No bridge to outcomes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Learning ends at 'course complete' — no interview readiness, no proof for studying abroad, no first client.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51960"/>
            <a:ext cx="3502152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41414"/>
                </a:solidFill>
                <a:latin typeface="Calibri"/>
              </a:rPr>
              <a:t>≈90%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of online-course learners never finish (industry estimates)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4251960"/>
            <a:ext cx="3502152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41414"/>
                </a:solidFill>
                <a:latin typeface="Calibri"/>
              </a:rPr>
              <a:t>1 path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the same content for every level, style, and goal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4251960"/>
            <a:ext cx="3502152" cy="1417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41414"/>
                </a:solidFill>
                <a:latin typeface="Calibri"/>
              </a:rPr>
              <a:t>Next 1B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emerging-market learners, underserved by US-priced products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01 · WHO IT AFFECTS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Built for the learners incumbents overlook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05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Self-taught developers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No curriculum, no feedback, no proof. They need a path and a mentor — not another video library.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University CS students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Theory-heavy courses, little interview prep. They need applied skill and verifiable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Career switchers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Coming from another field. They need a level-aware ramp and a portfolio, fast.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1828800"/>
            <a:ext cx="262432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Emerging-market learners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Price-sensitive, often non-native English. They need fair pricing and a local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08792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3D3D"/>
                </a:solidFill>
                <a:latin typeface="Calibri"/>
              </a:rPr>
              <a:t>Primary market: Pakistan, India, MENA, and Southeast Asia.  Secondary: universities and bootcamps (B2B2C) that need retention and outcomes evidence.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5486400" cy="2926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A live AI tutor that adapts, remembers, and opens doors.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06 / 19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02 ·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One closed loop from first answer to first income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07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1 · Diagnose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Adaptive, Gemini-generated tests build a live 5-domain Capability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3" y="2880360"/>
            <a:ext cx="365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8356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2 · Adapt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Lessons rewrite to the learner's tier — analogies, diagrams, then internals.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880360"/>
            <a:ext cx="365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56632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3 · Mentor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Code is critiqued on 4 axes: correctness, style, edge cases, optimization.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2880360"/>
            <a:ext cx="365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4908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4 · Remember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Memory Twin forecasts forgetting; Rescue Reviews reinforce before decay.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1452" y="2880360"/>
            <a:ext cx="365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9A9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3184" y="1965960"/>
            <a:ext cx="2084831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414"/>
                </a:solidFill>
                <a:latin typeface="Calibri"/>
              </a:rPr>
              <a:t>5 · Convert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D3D"/>
                </a:solidFill>
                <a:latin typeface="Calibri"/>
              </a:rPr>
              <a:t>Skill becomes a Passport, scholarships, a freelance profile, a 90-day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908792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D3D3D"/>
                </a:solidFill>
                <a:latin typeface="Calibri"/>
              </a:rPr>
              <a:t>Every step feeds the same learner model — so the platform gets sharper, and more personal, the longer a student uses it.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02 · 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How the adaptation actually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08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Capability Matrix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A five-domain proficiency model updated by every answer and submission — it drives all downstream adaptation.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Self-rewriting lessons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Same learning objectives, personalized delivery; cached per concept × tier × style so repeats are instant.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4-axis code mentorship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Tiered, structured feedback on correctness, style, edge cases, and optimization — student code is never executed on the server.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1414"/>
                </a:solidFill>
                <a:latin typeface="Calibri"/>
              </a:rPr>
              <a:t>Domain-general AI mentor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3D3D3D"/>
                </a:solidFill>
                <a:latin typeface="Calibri"/>
              </a:rPr>
              <a:t>Persistent per-user chat with topic memory, graceful knowledge-base fallback, and strict history isolation.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03 · SIGNATURE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Capabilities no incumbent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09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Memory Twin™ — skill-decay prediction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Fits forgetting curves R(t)=e^(−t/S) to real practice history; forecasts 14-day retention; 2-minute Rescue Reviews reinforce a skill before it fades.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Struggle DNA™ — cognitive phenotyping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Mines behavior into Resilience, Depth Tolerance, Edge Awareness, and Craft; assigns a struggle archetype and prescribes targeted countermeasures.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39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Career Autopilot™ — JD to fit % + 90-day plan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Paste any job description: importance-weighted fit score against the live matrix, a Recruiter Lens screen-out risk, and a deterministic 90-day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3977639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System Design Dojo™ — interview training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Six structured challenges graded on a 4-axis interview rubric (Clarify → Estimate → Model → Architect → Scale) with AI critique and history.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04 · OPPORTUNITY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Turning learning into real-world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10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Skill Passport™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Portable, verifiable proof of skill: a stable passport ID, per-domain mastery, evidence counts, and issuer attestation. JSON download plus resume export.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Scholarship Radar™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15 curated fully-funded international scholarships with live rolling-deadline countdowns, match scoring, and level/country/field filters. Free for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828800"/>
            <a:ext cx="35021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Freelance Launchpad™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An AI-drafted, matrix-grounded freelance profile — niche, skills, starter gigs, and a realistic rate. It never invents skills the learner lacks.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43400"/>
            <a:ext cx="109087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Global Access Doctrine™ + planning tools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PPP regional pricing (Pakistan ₨999 default across 8 markets) and an Urdu dual-language glossary make it reachable; Domain Compass™ maps 64 computing domains with 10-year demand trends, and PathFinder™ turns the live matrix into an adaptive 7-day study plan.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04 · CAREER READINESS STACK™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From ‘what do I need?’ to ‘I got the offer’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11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Recruiter Lens™ + weighted fit 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The same JD analysis now reports fit five ways (overall/primary/secondary/technical/soft) and names the single worst must-have as the screen-out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Automated Assessment Generator™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Turns the gap report into a 3-12 item quiz/coding/interview suite where each item targets exactly one weak requirement, with a curated-bank fallback.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39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Interview Rehearsal Studio™ — free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A role-specific mock loop scored against a deterministic rubric, with a cross-session trend — free for every student, no plan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3977639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Application Pipeline™ — free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A 6-stage tracker computing response rate server-side (Saved rows excluded), overdue next-actions, and days-in-stage — also free for every student.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5943600" cy="2926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Technology &amp; Reliability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Engineering maturity a team lead can verify, not just admire.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05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A clean, layered MERN + TypeScript monorepo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13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Client — React 19 + Vite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Mobile-first monochrome SPA: the student experience and the admin console, with Three.js and Motion animations (a single engine) and reduced-motion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52928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API — Express 5, strict MVC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Routes → controllers → services. Issuer-bound JWT, RBAC, plan gating, and Zod request validation at the edge.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77056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AI services layer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All Gemini orchestration is isolated here. Structured JSON outputs, a dual-key/model cascade, and a deterministic mock fallback.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01184"/>
            <a:ext cx="10908792" cy="932688"/>
          </a:xfrm>
          <a:prstGeom prst="rect">
            <a:avLst/>
          </a:prstGeom>
          <a:solidFill>
            <a:srgbClr val="F4F4F4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4"/>
                </a:solidFill>
                <a:latin typeface="Calibri"/>
              </a:rPr>
              <a:t>Data — MongoDB / Mongoose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Users, CapabilityMatrix, Lessons, CodeSubmission, ChatMessage, AuditLog — all validated against schemas shared with the client.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05 · AI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The demo can never fail on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85800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Structured outputs everywhere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Every AI call declares a response schema and is Zod-validated before anything is persisted — no free-form AI text in the database.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Dual-key, multi-model cascade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On quota or overload, requests roll across 2 API keys × 3 models within a 45-second ceiling, honoring Google's retry hints.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Deterministic fallback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No key, or total failure, drops to a mock provider that keeps every feature alive — graceful degradation instead of a 500.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Prompt-injection safe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3D3D3D"/>
                </a:solidFill>
                <a:latin typeface="Calibri"/>
              </a:rPr>
              <a:t>Student input is embedded strictly as data, never as instructions; all prompts are assembled server-side.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828800"/>
            <a:ext cx="3822191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41414"/>
                </a:solidFill>
                <a:latin typeface="Calibri"/>
              </a:rPr>
              <a:t>2 ×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key × model fallback cascade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3127248"/>
            <a:ext cx="3822191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41414"/>
                </a:solidFill>
                <a:latin typeface="Calibri"/>
              </a:rPr>
              <a:t>45s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hard ceiling per AI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4425696"/>
            <a:ext cx="3822191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41414"/>
                </a:solidFill>
                <a:latin typeface="Calibri"/>
              </a:rPr>
              <a:t>113/113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automated tests green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05 · SECURITY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Production posture, verified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949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" y="2157984"/>
            <a:ext cx="5376672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349240" cy="374903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Issuer-bound JWT access + refresh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RBAC and plan gating (403 / 402) from verified claims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Helmet CSP + HSTS; centralized security config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Tiered rate limits on auth, chat, and every AI route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Audit logging for admin mutations and plan grants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NoSQL operator-injection guards; secrets only via 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828800"/>
            <a:ext cx="534924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2157984"/>
            <a:ext cx="5330952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286000"/>
            <a:ext cx="5349240" cy="374903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113/113 Vitest + Supertest integration tests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Full RBAC matrix and ownership coverage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WCAG-AA contrast audit on every route, dark + light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Responsive, mobile-first across breakpoints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Persistent dev database; ephemeral, isolated tests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Reproducible QA suite and signed-off QA report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5943600" cy="2926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242424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Feasibility &amp; 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6C6C6"/>
                </a:solidFill>
                <a:latin typeface="Calibri"/>
              </a:rPr>
              <a:t>Not a concept deck — a shipped, running, tested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" y="3429000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06 · WHAT'S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Shipped end-to-end and running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17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17+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student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8024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113/113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tests 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matrix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64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Compass domains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15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scholarships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828800"/>
            <a:ext cx="1709928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41414"/>
                </a:solidFill>
                <a:latin typeface="Calibri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6A6A"/>
                </a:solidFill>
                <a:latin typeface="Calibri"/>
              </a:rPr>
              <a:t>AI keys cascaded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MODULES DELIVERED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3712464"/>
            <a:ext cx="10890504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08792" cy="2286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Auth, RBAC, and premium plan gating — with a full admin console and audit 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Adaptive diagnostics, self-rewriting lessons, code playground, and the AI mentor chat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Memory Twin, Struggle DNA, Career Autopilot, and the System Design Dojo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Skill Passport, Scholarship Radar, Freelance Launchpad, Domain Compass, and PathFinder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Career Readiness Stack: Recruiter Lens, Assessment Generator, Interview Rehearsal Studio, Application Pipeline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41414"/>
                </a:solidFill>
                <a:latin typeface="Calibri"/>
              </a:rPr>
              <a:t>•   Deployment-ready Vercel serverless adapter (same-origin, no CORS) awaiting production wiring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6A"/>
                </a:solidFill>
                <a:latin typeface="Calibri"/>
              </a:rPr>
              <a:t>06 · ROADMAP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414"/>
                </a:solidFill>
                <a:latin typeface="Calibri"/>
              </a:rPr>
              <a:t>A clear, staged path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868680" cy="4114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6A"/>
                </a:solidFill>
                <a:latin typeface="Calibri"/>
              </a:rPr>
              <a:t>18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Now — Shipped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Complete MVP running end-to-end, 113/113 tests, and a deployment-ready serverless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Next — Live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Production deploy on Vercel + MongoDB Atlas, and Stripe billing for the premium tier.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Then — Retention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Decay-alert notifications, streaks, and an institutional B2B2C dashboard for cohorts.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1828800"/>
            <a:ext cx="2624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64592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414"/>
                </a:solidFill>
                <a:latin typeface="Calibri"/>
              </a:rPr>
              <a:t>Later — Network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D3D3D"/>
                </a:solidFill>
                <a:latin typeface="Calibri"/>
              </a:rPr>
              <a:t>Marketplace and university partnerships behind the Radar, Launchpad, and Passport.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09160"/>
            <a:ext cx="10908792" cy="9601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A9A9A"/>
                </a:solidFill>
                <a:latin typeface="Calibri"/>
              </a:rPr>
              <a:t>The 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Hackathon validation, then a seed round to ship billing, scale the live deployment, and drive the emerging-market wedge.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6C6C6"/>
                </a:solidFill>
                <a:latin typeface="Calibri"/>
              </a:rPr>
              <a:t>Adaptive AI Learning Platform — the tutor that never forgets you.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977639"/>
            <a:ext cx="1143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4B4B4"/>
                </a:solidFill>
                <a:latin typeface="Calibri"/>
              </a:rPr>
              <a:t>Created by Syed Azan Mehdi Shah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B4B4B4"/>
                </a:solidFill>
                <a:latin typeface="Calibri"/>
              </a:rPr>
              <a:t>Supervisor: Mr. Asif Raza — Lecturer, University of Mianwali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9A9A9A"/>
                </a:solidFill>
                <a:latin typeface="Calibri"/>
              </a:rPr>
              <a:t>Live demo and 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Adaptive AI Learning Platform · University of Mianwali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28232"/>
            <a:ext cx="1490472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